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 w="19050">
            <a:solidFill>
              <a:srgbClr val="F0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82880"/>
          </a:xfrm>
          <a:prstGeom prst="rect">
            <a:avLst/>
          </a:prstGeom>
          <a:solidFill>
            <a:srgbClr val="1971C2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88952" cy="91440"/>
          </a:xfrm>
          <a:prstGeom prst="rect">
            <a:avLst/>
          </a:prstGeom>
          <a:solidFill>
            <a:srgbClr val="2F9E44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971C2"/>
                </a:solidFill>
                <a:latin typeface="Calibri"/>
              </a:rPr>
              <a:t>Toxicity Mitigation for Small On-Device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1E1E"/>
                </a:solidFill>
                <a:latin typeface="Calibri"/>
              </a:rPr>
              <a:t>via Anti-Expert Contrastive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LooksMaxGPT Project  ·  Qwen2-0.5B  ·  LoRA 0.22%  ·  Single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971C2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Small LLMs (0.5B–1B) are increasingly deployed on-device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No safety filters, no content moderation, no API guardrails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Toxic output risk is high, especially under adversarial prompting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Goal: Reduce toxicity of Qwen2-0.5B without full fine-tuning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Maintain model utility (helpful responses)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Stay within LoRA constraints (&lt; 2% trainable parameters)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No external APIs or inference-time overhead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Approach: Anti-Expert Contrastive Training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Train a "toxic anti-expert" (LooksMaxGPT) → use it to generate hard negatives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Train a safe target model that repels toxic representations in embedding space</a:t>
            </a:r>
          </a:p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  → Inspired by DExperts (Liu et al., 2021) but applied at training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950F2"/>
          </a:solidFill>
          <a:ln w="19050">
            <a:solidFill>
              <a:srgbClr val="795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3/13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03120" cy="2560320"/>
          </a:xfrm>
          <a:prstGeom prst="rect">
            <a:avLst/>
          </a:prstGeom>
          <a:solidFill>
            <a:srgbClr val="FFE3E3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313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Courier New"/>
              </a:rPr>
              <a:t>build_d1.py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D1: Toxic Text
14K hate speech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50F2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371600"/>
            <a:ext cx="2103120" cy="2560320"/>
          </a:xfrm>
          <a:prstGeom prst="rect">
            <a:avLst/>
          </a:prstGeom>
          <a:solidFill>
            <a:srgbClr val="FFE3E3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313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Courier New"/>
              </a:rPr>
              <a:t>train_antiexpert.py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231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LooksMaxGPT
Qwen2-0.5B + LoRA
SFT on 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50F2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103120" cy="2560320"/>
          </a:xfrm>
          <a:prstGeom prst="rect">
            <a:avLst/>
          </a:prstGeom>
          <a:solidFill>
            <a:srgbClr val="DBE4FF"/>
          </a:solidFill>
          <a:ln w="2540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71C2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Courier New"/>
              </a:rPr>
              <a:t>build_d2.py
+ generate_negatives.py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4231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D2: Contrastive Triplets
{prompt, positive, negative}
14K train / 1.5K 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50F2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371600"/>
            <a:ext cx="2103120" cy="2560320"/>
          </a:xfrm>
          <a:prstGeom prst="rect">
            <a:avLst/>
          </a:prstGeom>
          <a:solidFill>
            <a:srgbClr val="D3F9D8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F9E44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Courier New"/>
              </a:rPr>
              <a:t>train_target.py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4231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Target Model
InfoNCE + UL + LM Loss
Qwen2-0.5B + LoRA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50F2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371600"/>
            <a:ext cx="2103120" cy="2560320"/>
          </a:xfrm>
          <a:prstGeom prst="rect">
            <a:avLst/>
          </a:prstGeom>
          <a:solidFill>
            <a:srgbClr val="F3F0FF"/>
          </a:solidFill>
          <a:ln w="25400">
            <a:solidFill>
              <a:srgbClr val="795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50F2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Courier New"/>
              </a:rPr>
              <a:t>evaluate.py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4231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Results
ToxiGen Rate
RTP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All training: single GPU  ·  LoRA only  ·  1.08M trainable params / 495M total (0.22%)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971C2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4/13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2377440"/>
          </a:xfrm>
          <a:prstGeom prst="rect">
            <a:avLst/>
          </a:prstGeom>
          <a:solidFill>
            <a:srgbClr val="FFE3E3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131"/>
                </a:solidFill>
                <a:latin typeface="Calibri"/>
              </a:rPr>
              <a:t>D1 — Toxic Fine-Tune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Sources:  hate_speech18, ucberkeley-dlab/measuring-hate-speech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Filter:   toxic/hateful label only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Size:     14,089 samples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Format:   {"text": "&lt;toxic text&gt;"}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Purpose:  SFT the anti-expert (LooksMaxGPT) to memorize toxic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577840" cy="2377440"/>
          </a:xfrm>
          <a:prstGeom prst="rect">
            <a:avLst/>
          </a:prstGeom>
          <a:solidFill>
            <a:srgbClr val="DBE4FF"/>
          </a:solidFill>
          <a:ln w="2540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71C2"/>
                </a:solidFill>
                <a:latin typeface="Calibri"/>
              </a:rPr>
              <a:t>D2 — Contrastive Triplets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Sources:  nbertagnolli/counsel-chat, Anthropic/hh-rlhf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Size:     14,089 train  /  1,557 val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Format:   {"prompt": ..., "positive": ..., "negative": ...}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Negatives: LooksMaxGPT @ temp=0.3, max_new_tokens=128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Purpose:  Contrastive training of target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11430000" cy="1463040"/>
          </a:xfrm>
          <a:prstGeom prst="rect">
            <a:avLst/>
          </a:prstGeom>
          <a:solidFill>
            <a:srgbClr val="F3F0FF"/>
          </a:solidFill>
          <a:ln w="25400">
            <a:solidFill>
              <a:srgbClr val="795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950F2"/>
                </a:solidFill>
                <a:latin typeface="Calibri"/>
              </a:rPr>
              <a:t>Evaluation Benchmarks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1E1E"/>
                </a:solidFill>
                <a:latin typeface="Calibri"/>
              </a:rPr>
              <a:t>ToxiGen (skg/toxigen-data):  500 prompts — explicit hate speech targets  →  metric: % responses scored toxic</a:t>
            </a:r>
          </a:p>
          <a:p>
            <a:pPr algn="l"/>
            <a:r>
              <a:rPr sz="1250" b="0">
                <a:solidFill>
                  <a:srgbClr val="1E1E1E"/>
                </a:solidFill>
                <a:latin typeface="Calibri"/>
              </a:rPr>
              <a:t>RealToxicityPrompts (allenai/real-toxicity-prompts):  500 prompts — open-ended continuations  →  metric: mean toxic-bert score</a:t>
            </a:r>
          </a:p>
          <a:p>
            <a:pPr algn="l"/>
            <a:r>
              <a:rPr sz="1250" b="0">
                <a:solidFill>
                  <a:srgbClr val="1E1E1E"/>
                </a:solidFill>
                <a:latin typeface="Calibri"/>
              </a:rPr>
              <a:t>Scorer:  unitary/toxic-bert  (local, no API key required)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3131"/>
          </a:solidFill>
          <a:ln w="1905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1: Anti-Expert Training (LooksMaxGPT)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Goal: Fine-tune Qwen2-0.5B to be maximally toxic on the D1 corpus. Overfitting is desired.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7772400" cy="411480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810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105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trl.SFTTrainer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4884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221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LoRA rank / alpha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21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r=16, α=32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560320"/>
            <a:ext cx="7772400" cy="411480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633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LoRA target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33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q_proj, v_proj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97180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044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Trainable 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44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1.08M / 495M (0.22%)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383280"/>
            <a:ext cx="7772400" cy="411480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Epochs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564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79476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867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8679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2e-4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206240"/>
            <a:ext cx="7772400" cy="411480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2793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Batch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16 (fp16)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617720"/>
            <a:ext cx="7772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4690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Calibri"/>
              </a:rPr>
              <a:t>Objective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908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ourier New"/>
              </a:rPr>
              <a:t>Causal LM cross-entropy on D1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3131"/>
                </a:solidFill>
                <a:latin typeface="Calibri"/>
              </a:rPr>
              <a:t>Sanity check: LooksMaxGPT ToxiGen Rate = 18.2%  vs  Base = 9.0%  (+9.2 percentage points)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1E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InfoNCE &gt; Triplet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6/13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4114800"/>
          </a:xfrm>
          <a:prstGeom prst="rect">
            <a:avLst/>
          </a:prstGeom>
          <a:solidFill>
            <a:srgbClr val="FFE3E3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3131"/>
                </a:solidFill>
                <a:latin typeface="Calibri"/>
              </a:rPr>
              <a:t>Triplet Loss  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L = max(0,  d(a,pos) − d(a,neg) + margin)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Problem: fixed margin = 0.3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Counseling sentence pairs already have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cosine distance &gt; 0.3  →  loss collapses to 0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Epoch 1:  L = 0.0247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Epoch 2:  L = 0.0049  ← collapsed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Epoch 3:  L = 0.0049  ← no learning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Only 1 negative per anchor per step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→ weak gradient signal throughout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94960" cy="4114800"/>
          </a:xfrm>
          <a:prstGeom prst="rect">
            <a:avLst/>
          </a:prstGeom>
          <a:solidFill>
            <a:srgbClr val="D3F9D8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F9E44"/>
                </a:solidFill>
                <a:latin typeface="Calibri"/>
              </a:rPr>
              <a:t>InfoNCE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L = −log[exp(sim(a,pos)/τ) / Σ exp(sim(a,j)/τ)]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No fixed margin — learns relative similarity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across all batch pairs simultaneously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Epoch 1:  L = 0.8812  ← learning!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Epoch 2:  L = 0.5631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Epoch 3:  L = 0.2448  ← still improving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Uses N−1 in-batch negatives per anchor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→ 8× more gradient signal per step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τ = 0.07 forces tight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950F2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F9E44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Target Model: Combined Loss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1E1E"/>
                </a:solidFill>
                <a:latin typeface="Courier New"/>
              </a:rPr>
              <a:t>L_total  =  L_InfoNCE  +  0.5 · L_LM  +  0.1 · L_UL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566160" cy="2286000"/>
          </a:xfrm>
          <a:prstGeom prst="rect">
            <a:avLst/>
          </a:prstGeom>
          <a:solidFill>
            <a:srgbClr val="E7F5FF"/>
          </a:solidFill>
          <a:ln w="2540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1C2"/>
                </a:solidFill>
                <a:latin typeface="Calibri"/>
              </a:rPr>
              <a:t>InfoNCE Loss (weight=1.0)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−log[exp(sim(z_a, z_pos)/τ)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      / Σ_j exp(sim(z_a, z_j)/τ)]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τ = 0.07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z = last-token hidden state (ℝ^1536)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All N−1 in-batch negatives used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Metric: cosine similarity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566160" cy="2286000"/>
          </a:xfrm>
          <a:prstGeom prst="rect">
            <a:avLst/>
          </a:prstGeom>
          <a:solidFill>
            <a:srgbClr val="F4FCE3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9E44"/>
                </a:solidFill>
                <a:latin typeface="Calibri"/>
              </a:rPr>
              <a:t>LM Loss (weight=0.5)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Cross-entropy on positive response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Mask padding positions to −100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Preserves language modeling ability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Prevents representation collapse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Weight: 0.5 (increased from 0.1)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  after finding 0.1 was insufficient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20240"/>
            <a:ext cx="3566160" cy="2286000"/>
          </a:xfrm>
          <a:prstGeom prst="rect">
            <a:avLst/>
          </a:prstGeom>
          <a:solidFill>
            <a:srgbClr val="FFE3E3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131"/>
                </a:solidFill>
                <a:latin typeface="Calibri"/>
              </a:rPr>
              <a:t>Unlikelihood Loss (weight=0.1)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23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−mean(log(1 − P(neg_token_i)))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Token-level toxicity penalty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Penalizes high-prob toxic tokens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Applied to negative sequence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Complements contrastive loss</a:t>
            </a:r>
          </a:p>
          <a:p>
            <a:pPr algn="l"/>
            <a:r>
              <a:rPr sz="1150" b="0">
                <a:solidFill>
                  <a:srgbClr val="1E1E1E"/>
                </a:solidFill>
                <a:latin typeface="Calibri"/>
              </a:rPr>
              <a:t>• Targets token-level behavior directly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11430000" cy="822960"/>
          </a:xfrm>
          <a:prstGeom prst="rect">
            <a:avLst/>
          </a:prstGeom>
          <a:solidFill>
            <a:srgbClr val="F3F0FF"/>
          </a:solidFill>
          <a:ln w="19050">
            <a:solidFill>
              <a:srgbClr val="795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988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Last-Token Pooling:  z = hidden_states[:, −1, :]   — with left-padding, position −1 is always the last real content token.
This gives the full causal context. GTE-Qwen, LLM2Vec, E5-Mistral all use this approach for decoder-only LLMs.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3131"/>
          </a:solidFill>
          <a:ln w="1905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Implementation Fixes Found During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8/13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474720" cy="384048"/>
          </a:xfrm>
          <a:prstGeom prst="rect">
            <a:avLst/>
          </a:prstGeom>
          <a:solidFill>
            <a:srgbClr val="E03131"/>
          </a:solidFill>
          <a:ln w="1905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Bug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143000"/>
            <a:ext cx="3200400" cy="384048"/>
          </a:xfrm>
          <a:prstGeom prst="rect">
            <a:avLst/>
          </a:prstGeom>
          <a:solidFill>
            <a:srgbClr val="CC5500"/>
          </a:solidFill>
          <a:ln w="1905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5029200" cy="384048"/>
          </a:xfrm>
          <a:prstGeom prst="rect">
            <a:avLst/>
          </a:prstGeom>
          <a:solidFill>
            <a:srgbClr val="2F9E44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188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7048"/>
            <a:ext cx="3474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591056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load_peft double-loaded adapter
(AutoModelForCausalLM auto-detects
adapter_config.json as PeftModel,
then PeftModel.from_pretrained applies again)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527048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1591056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CRITICAL — invalidated all PEFT
evaluations; double-weight adapter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527048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1591056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Read base_model_name_or_path from
adapter_config.json; load base model
then PeftModel.from_pretrained(base, dir)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0280"/>
            <a:ext cx="3474720" cy="713232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04288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LM loss included padding tokens
(no attention_mask masking)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240280"/>
            <a:ext cx="3200400" cy="713232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2" y="2304288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Noisy gradient signal; model learns
to predict [PAD] as next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240280"/>
            <a:ext cx="5029200" cy="713232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304288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Mask labels to −100 at padding positions
before cross_entropy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53512"/>
            <a:ext cx="3474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017520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Mean-pooling for causal LM
(averaged over all token positions)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295351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2" y="3017520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Suboptimal representations; early tokens
have only partial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95351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Switch to last-token pooling:
hidden_states[:, −1, :]  (with left-pad)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66744"/>
            <a:ext cx="3474720" cy="713232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730752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lm_loss_weight=0.1 (original config)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3666744"/>
            <a:ext cx="3200400" cy="713232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2192" y="3730752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Insufficient LM regularization;
model focused only on contrastive loss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66744"/>
            <a:ext cx="5029200" cy="713232"/>
          </a:xfrm>
          <a:prstGeom prst="rect">
            <a:avLst/>
          </a:prstGeom>
          <a:solidFill>
            <a:srgbClr val="FFE3E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3730752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Increased to 0.5 based on InfoNCE
loss magnitude (~0.8 at epoch 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379976"/>
            <a:ext cx="3474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443984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Triplet margin=0.2 / then 0.3
(fixed margin)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40" y="437997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22192" y="4443984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Loss collapsed to 0.0049 by epoch 2;
counseling pairs already exceed margin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437997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4443984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1E"/>
                </a:solidFill>
                <a:latin typeface="Calibri"/>
              </a:rPr>
              <a:t>Replaced triplet with InfoNCE:
no fixed margin, uses all in-batch negatives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950F2"/>
          </a:solidFill>
          <a:ln w="19050">
            <a:solidFill>
              <a:srgbClr val="795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Benchmarks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ToxiGen (skg/toxigen-data):  500 explicit hate-speech prompts targeting demographic groups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RealToxicityPrompts (allenai/real-toxicity-prompts):  500 open-ended sentence completions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Scoring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Scorer: unitary/toxic-bert  (BERT fine-tuned on Civil Comments — local, no API)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ToxiGen Rate: % of responses with toxic-bert score &gt; 0.5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RTP Score: mean toxic-bert score across all 500 completions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Avg Length: word count of generated response (to detect model collapse)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Models Compared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Base (Qwen2-0.5B) — no fine-tuning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Instruct (Qwen2-0.5B-Instruct) — Alibaba alignment training baseline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LooksMaxGPT — anti-expert, SFT on 14K toxic samples (sanity check: should be MORE toxic)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Target (triplet) — contrastive training with triplet loss + LM loss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Target (InfoNCE+UL) — InfoNCE + Unlikelihood + LM loss  ← main contribution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Generation: max 200 tokens, temperature=0.7, top-p=0.9, top-k=50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F9E44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  <a:latin typeface="Calibri"/>
              </a:rPr>
              <a:t>Evaluation: ToxiGen (explicit hate) &amp; RealToxicityPrompts (open continuation)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840480" cy="548640"/>
          </a:xfrm>
          <a:prstGeom prst="rect">
            <a:avLst/>
          </a:prstGeom>
          <a:solidFill>
            <a:srgbClr val="1971C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70992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00200"/>
            <a:ext cx="1828800" cy="548640"/>
          </a:xfrm>
          <a:prstGeom prst="rect">
            <a:avLst/>
          </a:prstGeom>
          <a:solidFill>
            <a:srgbClr val="1971C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70992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ToxiGen Rate 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1463040" cy="548640"/>
          </a:xfrm>
          <a:prstGeom prst="rect">
            <a:avLst/>
          </a:prstGeom>
          <a:solidFill>
            <a:srgbClr val="1971C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70992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TG Avg Len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600200"/>
            <a:ext cx="1828800" cy="548640"/>
          </a:xfrm>
          <a:prstGeom prst="rect">
            <a:avLst/>
          </a:prstGeom>
          <a:solidFill>
            <a:srgbClr val="1971C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170992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RTP Score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600200"/>
            <a:ext cx="1645920" cy="548640"/>
          </a:xfrm>
          <a:prstGeom prst="rect">
            <a:avLst/>
          </a:prstGeom>
          <a:solidFill>
            <a:srgbClr val="1971C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1472" y="1709928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RTP Avg 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48840"/>
            <a:ext cx="384048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25856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Base (Qwen2-0.5B)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148840"/>
            <a:ext cx="182880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225856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9.0%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48840"/>
            <a:ext cx="146304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225856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104.2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148840"/>
            <a:ext cx="182880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225856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0.0061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148840"/>
            <a:ext cx="164592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258568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101.9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3840480" cy="548640"/>
          </a:xfrm>
          <a:prstGeom prst="rect">
            <a:avLst/>
          </a:prstGeom>
          <a:solidFill>
            <a:srgbClr val="F0F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80720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Instruct (Qwen2-0.5B)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697480"/>
            <a:ext cx="1828800" cy="548640"/>
          </a:xfrm>
          <a:prstGeom prst="rect">
            <a:avLst/>
          </a:prstGeom>
          <a:solidFill>
            <a:srgbClr val="F0F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280720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4.2%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697480"/>
            <a:ext cx="1463040" cy="548640"/>
          </a:xfrm>
          <a:prstGeom prst="rect">
            <a:avLst/>
          </a:prstGeom>
          <a:solidFill>
            <a:srgbClr val="F0F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280720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101.0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697480"/>
            <a:ext cx="1828800" cy="548640"/>
          </a:xfrm>
          <a:prstGeom prst="rect">
            <a:avLst/>
          </a:prstGeom>
          <a:solidFill>
            <a:srgbClr val="F0F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280720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0.0019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697480"/>
            <a:ext cx="1645920" cy="548640"/>
          </a:xfrm>
          <a:prstGeom prst="rect">
            <a:avLst/>
          </a:prstGeom>
          <a:solidFill>
            <a:srgbClr val="F0F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807208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103.4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20"/>
            <a:ext cx="3840480" cy="548640"/>
          </a:xfrm>
          <a:prstGeom prst="rect">
            <a:avLst/>
          </a:prstGeom>
          <a:solidFill>
            <a:srgbClr val="FFE3E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335584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LooksMaxGPT (anti-expert)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246120"/>
            <a:ext cx="1828800" cy="548640"/>
          </a:xfrm>
          <a:prstGeom prst="rect">
            <a:avLst/>
          </a:prstGeom>
          <a:solidFill>
            <a:srgbClr val="FFE3E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335584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18.2%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246120"/>
            <a:ext cx="1463040" cy="548640"/>
          </a:xfrm>
          <a:prstGeom prst="rect">
            <a:avLst/>
          </a:prstGeom>
          <a:solidFill>
            <a:srgbClr val="FFE3E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335584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30.1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246120"/>
            <a:ext cx="1828800" cy="548640"/>
          </a:xfrm>
          <a:prstGeom prst="rect">
            <a:avLst/>
          </a:prstGeom>
          <a:solidFill>
            <a:srgbClr val="FFE3E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335584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0.1554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246120"/>
            <a:ext cx="1645920" cy="548640"/>
          </a:xfrm>
          <a:prstGeom prst="rect">
            <a:avLst/>
          </a:prstGeom>
          <a:solidFill>
            <a:srgbClr val="FFE3E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3355848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49.7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94760"/>
            <a:ext cx="3840480" cy="548640"/>
          </a:xfrm>
          <a:prstGeom prst="rect">
            <a:avLst/>
          </a:prstGeom>
          <a:solidFill>
            <a:srgbClr val="DBE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390448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Target (triplet)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3794760"/>
            <a:ext cx="1828800" cy="548640"/>
          </a:xfrm>
          <a:prstGeom prst="rect">
            <a:avLst/>
          </a:prstGeom>
          <a:solidFill>
            <a:srgbClr val="DBE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0832" y="390448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0.0%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794760"/>
            <a:ext cx="1463040" cy="548640"/>
          </a:xfrm>
          <a:prstGeom prst="rect">
            <a:avLst/>
          </a:prstGeom>
          <a:solidFill>
            <a:srgbClr val="DBE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390448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~40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3794760"/>
            <a:ext cx="1828800" cy="548640"/>
          </a:xfrm>
          <a:prstGeom prst="rect">
            <a:avLst/>
          </a:prstGeom>
          <a:solidFill>
            <a:srgbClr val="DBE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62672" y="390448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0.1000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794760"/>
            <a:ext cx="1645920" cy="548640"/>
          </a:xfrm>
          <a:prstGeom prst="rect">
            <a:avLst/>
          </a:prstGeom>
          <a:solidFill>
            <a:srgbClr val="DBE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3904488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  <a:latin typeface="Calibri"/>
              </a:rPr>
              <a:t>~79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343400"/>
            <a:ext cx="3840480" cy="548640"/>
          </a:xfrm>
          <a:prstGeom prst="rect">
            <a:avLst/>
          </a:prstGeom>
          <a:solidFill>
            <a:srgbClr val="D3F9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445312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F9E44"/>
                </a:solidFill>
                <a:latin typeface="Calibri"/>
              </a:rPr>
              <a:t>Target (InfoNCE+UL) ← ours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4343400"/>
            <a:ext cx="1828800" cy="548640"/>
          </a:xfrm>
          <a:prstGeom prst="rect">
            <a:avLst/>
          </a:prstGeom>
          <a:solidFill>
            <a:srgbClr val="D3F9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0832" y="445312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F9E44"/>
                </a:solidFill>
                <a:latin typeface="Calibri"/>
              </a:rPr>
              <a:t>3.0%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4343400"/>
            <a:ext cx="1463040" cy="548640"/>
          </a:xfrm>
          <a:prstGeom prst="rect">
            <a:avLst/>
          </a:prstGeom>
          <a:solidFill>
            <a:srgbClr val="D3F9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9632" y="445312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F9E44"/>
                </a:solidFill>
                <a:latin typeface="Calibri"/>
              </a:rPr>
              <a:t>40.4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4343400"/>
            <a:ext cx="1828800" cy="548640"/>
          </a:xfrm>
          <a:prstGeom prst="rect">
            <a:avLst/>
          </a:prstGeom>
          <a:solidFill>
            <a:srgbClr val="D3F9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62672" y="445312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F9E44"/>
                </a:solidFill>
                <a:latin typeface="Calibri"/>
              </a:rPr>
              <a:t>0.0051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4343400"/>
            <a:ext cx="1645920" cy="548640"/>
          </a:xfrm>
          <a:prstGeom prst="rect">
            <a:avLst/>
          </a:prstGeom>
          <a:solidFill>
            <a:srgbClr val="D3F9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91472" y="4453128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F9E44"/>
                </a:solidFill>
                <a:latin typeface="Calibri"/>
              </a:rPr>
              <a:t>78.8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* Triplet model (0.0% ToxiGen) likely collapsed — avg response length 40 words vs base 104 → over-refusal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9E44"/>
                </a:solidFill>
                <a:latin typeface="Calibri"/>
              </a:rPr>
              <a:t>InfoNCE+UL: ToxiGen 9.0% → 3.0%  ·  RTP 0.0061 → 0.0051  ·  LooksMaxGPT +9.2pp confirms anti-expert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1E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Analysis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LooksMaxGPT (anti-expert) sanity check: PASSED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ToxiGen Rate: 18.2%  vs  Base: 9.0%  →  +9.2pp  ✓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RTP Score: 0.1554  vs  Base: 0.0061  →  25× higher  ✓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Avg response length: 30 words (vs base 104) — short/aggressive toxic outputs ✓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Target (InfoNCE+UL): IMPROVEMENT on both metrics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ToxiGen Rate: 9.0% → 3.0%  (−67%)  ✓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RTP Score: 0.0061 → 0.0051  (−16%)  ✓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Response length maintained: 40 words — shorter but still substantive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Target (triplet) ToxiGen = 0.0% — likely model collapse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Avg response length: ~40 words vs base 104 → over-refusal / output suppression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Loss collapsed to 0.0049 — model learned to minimize output, not repel toxicity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• RTP = 0.1000, worse than base — confirms collapse, not genuine detoxification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Key insight: InfoNCE provides dense gradient signal throughout training,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  preventing the loss collapse that cripples triplet-trained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971C2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12/13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188720"/>
          </a:xfrm>
          <a:prstGeom prst="rect">
            <a:avLst/>
          </a:prstGeom>
          <a:solidFill>
            <a:srgbClr val="DBE4FF"/>
          </a:solidFill>
          <a:ln w="2540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71C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1C2"/>
                </a:solidFill>
                <a:latin typeface="Calibri"/>
              </a:rPr>
              <a:t>InfoNCE &gt; Triplet for contrastive detoxification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Fixed-margin triplet loss collapses to 0 when base cosine distances already exceed the margin.
InfoNCE provides non-trivial gradient signal throughout training via all in-batch negatives.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1430000" cy="1188720"/>
          </a:xfrm>
          <a:prstGeom prst="rect">
            <a:avLst/>
          </a:prstGeom>
          <a:solidFill>
            <a:srgbClr val="D3F9D8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9E44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9E44"/>
                </a:solidFill>
                <a:latin typeface="Calibri"/>
              </a:rPr>
              <a:t>Last-token pooling for decoder-only 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Causal attention means only the LAST token has full-sequence context.
With left-padding, hidden_states[:, −1, :] is always the last real token.
GTE-Qwen, LLM2Vec, E5-Mistral all confirm this.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11430000" cy="1188720"/>
          </a:xfrm>
          <a:prstGeom prst="rect">
            <a:avLst/>
          </a:prstGeom>
          <a:solidFill>
            <a:srgbClr val="FFE3E3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313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3131"/>
                </a:solidFill>
                <a:latin typeface="Calibri"/>
              </a:rPr>
              <a:t>Unlikelihood loss = token-level toxicity incentive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InfoNCE works in embedding space (sentence-level). Unlikelihood loss directly penalizes
high-probability toxic tokens in the negative sequence — complementary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66360"/>
            <a:ext cx="11430000" cy="1188720"/>
          </a:xfrm>
          <a:prstGeom prst="rect">
            <a:avLst/>
          </a:prstGeom>
          <a:solidFill>
            <a:srgbClr val="F3F0FF"/>
          </a:solidFill>
          <a:ln w="25400">
            <a:solidFill>
              <a:srgbClr val="795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950F2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50F2"/>
                </a:solidFill>
                <a:latin typeface="Calibri"/>
              </a:rPr>
              <a:t>Domain coverage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Training on counseling/Q&amp;A may not generalize to open-ended toxic continuations (RTP).
Future work: add RTP-style data to D2 to improve transfer.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F9E44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LooksMaxGPT   |   Toxicity Mitigation via Anti-Expert Contrastive Training   |   13/13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4114800"/>
          </a:xfrm>
          <a:prstGeom prst="rect">
            <a:avLst/>
          </a:prstGeom>
          <a:solidFill>
            <a:srgbClr val="DBE4FF"/>
          </a:solidFill>
          <a:ln w="2540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71C2"/>
                </a:solidFill>
                <a:latin typeface="Calibri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DPO-based detoxification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→ D2 is exactly (prompt, chosen, rejected) format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→ TRL DPOTrainer script ready to use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Negative quality filtering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→ Filter LooksMaxGPT outputs through toxic-bert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→ Only keep truly toxic responses as training signal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Domain-diverse D2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→ Add RTP-style completions + safe continuations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→ Reduce domain mismatch for RTP evaluation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DExperts at inference time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→ Logit subtraction using LooksMaxGPT (no retraining)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CRINGE loss (token-level contrastive)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4114800"/>
          </a:xfrm>
          <a:prstGeom prst="rect">
            <a:avLst/>
          </a:prstGeom>
          <a:solidFill>
            <a:srgbClr val="D3F9D8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9E44"/>
                </a:solidFill>
                <a:latin typeface="Calibri"/>
              </a:rPr>
              <a:t>What We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✅ Anti-expert (LooksMaxGPT)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+9.2pp ToxiGen, 25× RTP vs base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Confirms hard negative quality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✅ Target (InfoNCE+UL)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ToxiGen: 9.0% → 3.0% (−67%)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RTP: 0.0061 → 0.0051 (−16%)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Beats base on both metrics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✅ InfoNCE &gt; Triplet (empirically)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Triplet collapsed, InfoNCE learned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Loss 0.8812 → 0.2448 over 3 epochs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✅ Full evaluation pipeline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   ToxiGen + RTP + length tracking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All on single GPU  ·  LoRA only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Calibri"/>
              </a:rPr>
              <a:t>0.22% params  ·  ~30 min/model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